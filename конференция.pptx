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8" r:id="rId3"/>
    <p:sldId id="275" r:id="rId4"/>
    <p:sldId id="274" r:id="rId5"/>
    <p:sldId id="270" r:id="rId6"/>
    <p:sldId id="276" r:id="rId7"/>
    <p:sldId id="263" r:id="rId8"/>
    <p:sldId id="277" r:id="rId9"/>
    <p:sldId id="261" r:id="rId10"/>
    <p:sldId id="262" r:id="rId11"/>
    <p:sldId id="266" r:id="rId12"/>
    <p:sldId id="272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4714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926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141901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9653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6652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33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7850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397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432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560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2E5EB8F-87EB-4246-87AE-D0A5478F7D94}" type="datetimeFigureOut">
              <a:rPr lang="ru-RU" smtClean="0"/>
              <a:t>17.03.2026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A6D2914-86AA-4DF3-AD76-B7639A332D1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0121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E72B965-E133-4ADD-90AA-BDA02B24E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5458" y="3955809"/>
            <a:ext cx="5678660" cy="1835834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Corbel (Основной текст)"/>
              </a:rPr>
              <a:t>докладчик: студент гр. ИП-41</a:t>
            </a:r>
          </a:p>
          <a:p>
            <a:pPr algn="r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Corbel (Основной текст)"/>
              </a:rPr>
              <a:t>Загорцев В. в.</a:t>
            </a:r>
          </a:p>
          <a:p>
            <a:pPr algn="r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Corbel (Основной текст)"/>
              </a:rPr>
              <a:t>Научный Руководитель: 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rbel (Основной текст)"/>
                <a:ea typeface="Aptos" panose="020B0004020202020204" pitchFamily="34" charset="0"/>
              </a:rPr>
              <a:t>Прокопенко Д. В.</a:t>
            </a:r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Corbel (Основной текст)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CB18B1-F087-4317-9942-41E762BA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927" y="172528"/>
            <a:ext cx="9814073" cy="2999387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Web-приложение онлайн-голосования в системе образования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19670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31BAA8E2-73F6-D817-3E0B-A5D2B60B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3190926" cy="817765"/>
          </a:xfrm>
        </p:spPr>
        <p:txBody>
          <a:bodyPr/>
          <a:lstStyle/>
          <a:p>
            <a:r>
              <a:rPr lang="ru-RU" dirty="0" err="1"/>
              <a:t>ВВедение</a:t>
            </a:r>
            <a:endParaRPr lang="LID4096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B031D716-D345-4E2B-45B6-466436E1BACA}"/>
              </a:ext>
            </a:extLst>
          </p:cNvPr>
          <p:cNvSpPr txBox="1">
            <a:spLocks/>
          </p:cNvSpPr>
          <p:nvPr/>
        </p:nvSpPr>
        <p:spPr>
          <a:xfrm>
            <a:off x="1147493" y="1304259"/>
            <a:ext cx="9549082" cy="35092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ru-RU" sz="19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Современные образовательные учреждения активно внедряют информационные технологии для автоматизации различных процессов. Одним из таких процессов является проведение опросов среди студентов, преподавателей и администрации учреждения.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ru-RU" sz="19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Традиционные методы проведения голосования, такие как бумажные анкеты или устные опросы, обладают рядом недостатков: значительными временными затратами, сложностью обработки результатов, возможностью ошибок при подсчёте голосов и недостаточной прозрачностью процесса. В связи с этим возникает необходимость создания автоматизированной системы онлайн-голосования, обеспечивающей удобство проведения голосований и достоверность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326709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8B809-0998-4A90-812C-15B24851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341" y="169194"/>
            <a:ext cx="10178322" cy="1492132"/>
          </a:xfrm>
        </p:spPr>
        <p:txBody>
          <a:bodyPr/>
          <a:lstStyle/>
          <a:p>
            <a:r>
              <a:rPr lang="ru-RU" dirty="0"/>
              <a:t>Аналоги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1E17B0-4BC1-87D6-90F6-42BCD6E3B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054" y="983411"/>
            <a:ext cx="8960402" cy="43149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5CC793-4212-1B9E-B8FF-176E84243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66425"/>
            <a:ext cx="5467016" cy="365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76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8B809-0998-4A90-812C-15B24851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341" y="169194"/>
            <a:ext cx="10178322" cy="1492132"/>
          </a:xfrm>
        </p:spPr>
        <p:txBody>
          <a:bodyPr/>
          <a:lstStyle/>
          <a:p>
            <a:r>
              <a:rPr lang="ru-RU" dirty="0"/>
              <a:t>Аналоги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252D3EF-2947-3159-2F76-89C8267A7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37" y="1983189"/>
            <a:ext cx="8168763" cy="458330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программное обеспечение, Операционная система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B12FE5-9542-2329-6C38-0413D45C8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4222" r="5189" b="4251"/>
          <a:stretch/>
        </p:blipFill>
        <p:spPr>
          <a:xfrm>
            <a:off x="5666983" y="291509"/>
            <a:ext cx="6148880" cy="408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18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71DBD-282A-453D-9EA9-389A56E1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844" y="289528"/>
            <a:ext cx="10178322" cy="1006186"/>
          </a:xfrm>
        </p:spPr>
        <p:txBody>
          <a:bodyPr>
            <a:normAutofit/>
          </a:bodyPr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A8FBA1-32CF-64FE-9A3A-102F0F55308F}"/>
              </a:ext>
            </a:extLst>
          </p:cNvPr>
          <p:cNvSpPr txBox="1">
            <a:spLocks/>
          </p:cNvSpPr>
          <p:nvPr/>
        </p:nvSpPr>
        <p:spPr>
          <a:xfrm>
            <a:off x="985568" y="1150724"/>
            <a:ext cx="10558732" cy="53224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b="1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разработки:</a:t>
            </a: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разработать веб-приложение, предназначенное для автоматизации процесса проведения онлайн-голосований в системе образования.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Приложение должно иметь следующую структуру и функциональность: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работать как веб-приложение, основанное на архитектуре </a:t>
            </a:r>
            <a:r>
              <a:rPr lang="ru-RU" sz="1600" i="1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обеспечивать разграничение прав доступа пользователей в зависимости от их роли;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предоставлять удобный пользовательский интерфейс для создания и проведения голосований;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обеспечивать автоматический подсчёт голосов и формирование статистики;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обеспечивать защиту от повторного голосования и несанкционированного доступа;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предусматривать использование технологии блокчейн для фиксации результатов голосования, что позволяет обеспечить неизменяемость данных и возможность проверки подлинности голосов;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быть кроссплатформенным и доступным через современные веб-браузеры;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400"/>
              <a:buFont typeface="Times New Roman" panose="02020603050405020304" pitchFamily="18" charset="0"/>
              <a:buChar char="–"/>
            </a:pPr>
            <a:r>
              <a:rPr lang="ru-RU" sz="1600" kern="1400" spc="-5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обеспечивать хранение и обработку данных пользователей и результатов голосований.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проведение тестирования разработанного программного обеспечения в разных сценариях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результат: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программный комплекс платформы онлайн-голосования, который может применяться в образовательных учреждениях для опросов студентов и преподавателей, оценки качества образовательного процесса, а также для организации голосований при проведении конференций, конкурсов, олимпиад и других образовательных мероприятий.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17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71DBD-282A-453D-9EA9-389A56E1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844" y="289528"/>
            <a:ext cx="3603581" cy="73917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Технологии</a:t>
            </a:r>
          </a:p>
        </p:txBody>
      </p:sp>
      <p:pic>
        <p:nvPicPr>
          <p:cNvPr id="9" name="Рисунок 8" descr="Изображение выглядит как Графика, круг, искусство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B510E04-1CD2-FAE6-FC69-0A47E0C65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44" y="1509017"/>
            <a:ext cx="1990724" cy="199072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Шрифт, снимок экрана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7894BAC-D57E-D4EF-3956-04A12E4F7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346" y="1199454"/>
            <a:ext cx="2743200" cy="166687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имвол, логотип,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0E0C0C2-A550-E94C-D1A5-F137C4F16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526" y="1199454"/>
            <a:ext cx="2381250" cy="238125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Графика, Шрифт, графическая вставка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46EF048-FC18-BC51-7EAC-309F7B3F4E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824" y="3088528"/>
            <a:ext cx="2219323" cy="2219323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снимок экрана, График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AEE4FC-0F4B-1ED2-A9AB-16315317D1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635" y="3131389"/>
            <a:ext cx="2133600" cy="2133600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Графика, Шрифт, логотип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9D9DF0E-ECC0-E4BC-456E-F4C986FEF2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39" y="4791962"/>
            <a:ext cx="2221538" cy="1666874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морские млекопитающие, Морское млекопитающее, дельфин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88E8B8-D842-40C3-4FF9-58A5BC25F5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2" r="4637"/>
          <a:stretch/>
        </p:blipFill>
        <p:spPr>
          <a:xfrm>
            <a:off x="1052654" y="4239129"/>
            <a:ext cx="4081127" cy="221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8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9A1DAE0-C1AA-2F39-72F8-7CAA31948B3F}"/>
              </a:ext>
            </a:extLst>
          </p:cNvPr>
          <p:cNvSpPr txBox="1">
            <a:spLocks/>
          </p:cNvSpPr>
          <p:nvPr/>
        </p:nvSpPr>
        <p:spPr>
          <a:xfrm>
            <a:off x="560717" y="1"/>
            <a:ext cx="5535283" cy="6297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500" dirty="0"/>
              <a:t>Роли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CC0909-EB04-D750-13F2-9E60DBE0A1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t="809" r="37100" b="4551"/>
          <a:stretch/>
        </p:blipFill>
        <p:spPr bwMode="auto">
          <a:xfrm>
            <a:off x="1498969" y="319241"/>
            <a:ext cx="9965537" cy="6555917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2126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CC0909-EB04-D750-13F2-9E60DBE0A1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4" t="809" r="2333" b="4551"/>
          <a:stretch/>
        </p:blipFill>
        <p:spPr bwMode="auto">
          <a:xfrm>
            <a:off x="1578969" y="603225"/>
            <a:ext cx="10170208" cy="6249782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357DC-39C9-894F-29BE-DCC7035E80B4}"/>
              </a:ext>
            </a:extLst>
          </p:cNvPr>
          <p:cNvSpPr txBox="1">
            <a:spLocks/>
          </p:cNvSpPr>
          <p:nvPr/>
        </p:nvSpPr>
        <p:spPr>
          <a:xfrm>
            <a:off x="560717" y="1"/>
            <a:ext cx="5535283" cy="6297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500" dirty="0"/>
              <a:t>Роли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35983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1F770A6-ED04-473A-91B2-2E1013756908}"/>
              </a:ext>
            </a:extLst>
          </p:cNvPr>
          <p:cNvSpPr txBox="1">
            <a:spLocks/>
          </p:cNvSpPr>
          <p:nvPr/>
        </p:nvSpPr>
        <p:spPr>
          <a:xfrm>
            <a:off x="1142008" y="0"/>
            <a:ext cx="10178322" cy="1024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База данных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215C7F-44BC-E658-C0D0-2B310A430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97" y="1188699"/>
            <a:ext cx="10738927" cy="478078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620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5EE2472-D45E-41D0-A40A-F662C02E80F7}"/>
              </a:ext>
            </a:extLst>
          </p:cNvPr>
          <p:cNvSpPr txBox="1">
            <a:spLocks/>
          </p:cNvSpPr>
          <p:nvPr/>
        </p:nvSpPr>
        <p:spPr>
          <a:xfrm>
            <a:off x="1291223" y="17253"/>
            <a:ext cx="10178322" cy="1024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База данных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61C75E-F438-F824-E90A-37D54BD2D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90" y="897147"/>
            <a:ext cx="6875494" cy="571931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7823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8ED71-6B87-4206-A65D-71E23E4B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392" y="0"/>
            <a:ext cx="8047597" cy="825313"/>
          </a:xfrm>
        </p:spPr>
        <p:txBody>
          <a:bodyPr/>
          <a:lstStyle/>
          <a:p>
            <a:r>
              <a:rPr lang="ru-RU" dirty="0"/>
              <a:t>Архитектура 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90302E-FE75-8751-AD7E-81BA60DC7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612" y="1263140"/>
            <a:ext cx="8730060" cy="4654579"/>
          </a:xfrm>
          <a:prstGeom prst="rect">
            <a:avLst/>
          </a:prstGeom>
          <a:noFill/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27204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7D718-1610-4C53-8DC2-75208F25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895" y="43132"/>
            <a:ext cx="4505105" cy="855572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F67B8F-ABED-4AAB-A8F8-2E0449CD6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1240" y="898705"/>
            <a:ext cx="10618402" cy="3664670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дипломного проекта сформирована концептуальная и архитектурная основа для разработки веб-приложения онлайн-голосования в системе образования с использованием блокчейн-технологий.</a:t>
            </a:r>
          </a:p>
          <a:p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сделано: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Проведен анализ существующих решений в области онлайн-голосования.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Спроектирована архитектура системы на основе клиент-серверного подхода с интеграцией блокчейна.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Разработана структура базы данных с учетом разделения хранения данных на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on-chain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off-chain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Обоснован выбор технологического стека (React, ASP.NET Core, PostgreSQL,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блокчейн-инфраструктура).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Определены роли пользователей и ключевые прецеденты системы.</a:t>
            </a:r>
          </a:p>
          <a:p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Значимость: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архитектура и модель данных будут служить основой для дальнейшей программной реализации системы онлайн-голосования.</a:t>
            </a:r>
          </a:p>
        </p:txBody>
      </p:sp>
    </p:spTree>
    <p:extLst>
      <p:ext uri="{BB962C8B-B14F-4D97-AF65-F5344CB8AC3E}">
        <p14:creationId xmlns:p14="http://schemas.microsoft.com/office/powerpoint/2010/main" val="3836025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50742C-3AC1-4D4C-A9A9-A5F990E3410D}"/>
              </a:ext>
            </a:extLst>
          </p:cNvPr>
          <p:cNvSpPr txBox="1"/>
          <p:nvPr/>
        </p:nvSpPr>
        <p:spPr>
          <a:xfrm>
            <a:off x="1982244" y="522736"/>
            <a:ext cx="845179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 !!!</a:t>
            </a:r>
          </a:p>
        </p:txBody>
      </p:sp>
    </p:spTree>
    <p:extLst>
      <p:ext uri="{BB962C8B-B14F-4D97-AF65-F5344CB8AC3E}">
        <p14:creationId xmlns:p14="http://schemas.microsoft.com/office/powerpoint/2010/main" val="254276574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135</TotalTime>
  <Words>397</Words>
  <Application>Microsoft Office PowerPoint</Application>
  <PresentationFormat>Широкоэкранный</PresentationFormat>
  <Paragraphs>33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Corbel</vt:lpstr>
      <vt:lpstr>Corbel (Основной текст)</vt:lpstr>
      <vt:lpstr>Gill Sans MT</vt:lpstr>
      <vt:lpstr>Impact</vt:lpstr>
      <vt:lpstr>Times New Roman</vt:lpstr>
      <vt:lpstr>Эмблема</vt:lpstr>
      <vt:lpstr>Web-приложение онлайн-голосования в системе образования</vt:lpstr>
      <vt:lpstr>ВВедение</vt:lpstr>
      <vt:lpstr>Аналоги</vt:lpstr>
      <vt:lpstr>Аналоги</vt:lpstr>
      <vt:lpstr>Постановка задачи</vt:lpstr>
      <vt:lpstr>Технологии</vt:lpstr>
      <vt:lpstr>Презентация PowerPoint</vt:lpstr>
      <vt:lpstr>Презентация PowerPoint</vt:lpstr>
      <vt:lpstr>Презентация PowerPoint</vt:lpstr>
      <vt:lpstr>Презентация PowerPoint</vt:lpstr>
      <vt:lpstr>Архитектура приложения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Violetta Shevkunova</dc:creator>
  <cp:lastModifiedBy>Виктор Загорцев</cp:lastModifiedBy>
  <cp:revision>98</cp:revision>
  <dcterms:created xsi:type="dcterms:W3CDTF">2024-03-11T09:34:12Z</dcterms:created>
  <dcterms:modified xsi:type="dcterms:W3CDTF">2026-03-17T22:17:39Z</dcterms:modified>
</cp:coreProperties>
</file>